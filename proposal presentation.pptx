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60"/>
  </p:normalViewPr>
  <p:slideViewPr>
    <p:cSldViewPr snapToGrid="0">
      <p:cViewPr>
        <p:scale>
          <a:sx n="100" d="100"/>
          <a:sy n="100" d="100"/>
        </p:scale>
        <p:origin x="58"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3EF03AF-17DE-43A7-8DA1-2FDECE57C23E}" type="datetimeFigureOut">
              <a:rPr lang="en-US" smtClean="0"/>
              <a:t>11/28/2024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16D7E3-99DC-43FA-A728-E2A62BCF9455}" type="slidenum">
              <a:rPr lang="en-US" smtClean="0"/>
              <a:t>‹#›</a:t>
            </a:fld>
            <a:endParaRPr lang="en-US"/>
          </a:p>
        </p:txBody>
      </p:sp>
    </p:spTree>
    <p:extLst>
      <p:ext uri="{BB962C8B-B14F-4D97-AF65-F5344CB8AC3E}">
        <p14:creationId xmlns:p14="http://schemas.microsoft.com/office/powerpoint/2010/main" val="20382861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EF03AF-17DE-43A7-8DA1-2FDECE57C23E}" type="datetimeFigureOut">
              <a:rPr lang="en-US" smtClean="0"/>
              <a:t>11/28/2024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16D7E3-99DC-43FA-A728-E2A62BCF9455}" type="slidenum">
              <a:rPr lang="en-US" smtClean="0"/>
              <a:t>‹#›</a:t>
            </a:fld>
            <a:endParaRPr lang="en-US"/>
          </a:p>
        </p:txBody>
      </p:sp>
    </p:spTree>
    <p:extLst>
      <p:ext uri="{BB962C8B-B14F-4D97-AF65-F5344CB8AC3E}">
        <p14:creationId xmlns:p14="http://schemas.microsoft.com/office/powerpoint/2010/main" val="21935899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3EF03AF-17DE-43A7-8DA1-2FDECE57C23E}" type="datetimeFigureOut">
              <a:rPr lang="en-US" smtClean="0"/>
              <a:t>11/28/2024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16D7E3-99DC-43FA-A728-E2A62BCF9455}" type="slidenum">
              <a:rPr lang="en-US" smtClean="0"/>
              <a:t>‹#›</a:t>
            </a:fld>
            <a:endParaRPr lang="en-US"/>
          </a:p>
        </p:txBody>
      </p:sp>
    </p:spTree>
    <p:extLst>
      <p:ext uri="{BB962C8B-B14F-4D97-AF65-F5344CB8AC3E}">
        <p14:creationId xmlns:p14="http://schemas.microsoft.com/office/powerpoint/2010/main" val="31029602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3EF03AF-17DE-43A7-8DA1-2FDECE57C23E}" type="datetimeFigureOut">
              <a:rPr lang="en-US" smtClean="0"/>
              <a:t>11/28/2024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F16D7E3-99DC-43FA-A728-E2A62BCF9455}" type="slidenum">
              <a:rPr lang="en-US" smtClean="0"/>
              <a:t>‹#›</a:t>
            </a:fld>
            <a:endParaRPr lang="en-US"/>
          </a:p>
        </p:txBody>
      </p:sp>
    </p:spTree>
    <p:extLst>
      <p:ext uri="{BB962C8B-B14F-4D97-AF65-F5344CB8AC3E}">
        <p14:creationId xmlns:p14="http://schemas.microsoft.com/office/powerpoint/2010/main" val="36670242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3EF03AF-17DE-43A7-8DA1-2FDECE57C23E}" type="datetimeFigureOut">
              <a:rPr lang="en-US" smtClean="0"/>
              <a:t>11/28/2024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F16D7E3-99DC-43FA-A728-E2A62BCF9455}" type="slidenum">
              <a:rPr lang="en-US" smtClean="0"/>
              <a:t>‹#›</a:t>
            </a:fld>
            <a:endParaRPr lang="en-US"/>
          </a:p>
        </p:txBody>
      </p:sp>
    </p:spTree>
    <p:extLst>
      <p:ext uri="{BB962C8B-B14F-4D97-AF65-F5344CB8AC3E}">
        <p14:creationId xmlns:p14="http://schemas.microsoft.com/office/powerpoint/2010/main" val="35201494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3EF03AF-17DE-43A7-8DA1-2FDECE57C23E}" type="datetimeFigureOut">
              <a:rPr lang="en-US" smtClean="0"/>
              <a:t>11/28/2024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F16D7E3-99DC-43FA-A728-E2A62BCF9455}" type="slidenum">
              <a:rPr lang="en-US" smtClean="0"/>
              <a:t>‹#›</a:t>
            </a:fld>
            <a:endParaRPr lang="en-US"/>
          </a:p>
        </p:txBody>
      </p:sp>
    </p:spTree>
    <p:extLst>
      <p:ext uri="{BB962C8B-B14F-4D97-AF65-F5344CB8AC3E}">
        <p14:creationId xmlns:p14="http://schemas.microsoft.com/office/powerpoint/2010/main" val="37827657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3EF03AF-17DE-43A7-8DA1-2FDECE57C23E}" type="datetimeFigureOut">
              <a:rPr lang="en-US" smtClean="0"/>
              <a:t>11/28/2024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F16D7E3-99DC-43FA-A728-E2A62BCF9455}" type="slidenum">
              <a:rPr lang="en-US" smtClean="0"/>
              <a:t>‹#›</a:t>
            </a:fld>
            <a:endParaRPr lang="en-US"/>
          </a:p>
        </p:txBody>
      </p:sp>
    </p:spTree>
    <p:extLst>
      <p:ext uri="{BB962C8B-B14F-4D97-AF65-F5344CB8AC3E}">
        <p14:creationId xmlns:p14="http://schemas.microsoft.com/office/powerpoint/2010/main" val="9966510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3EF03AF-17DE-43A7-8DA1-2FDECE57C23E}" type="datetimeFigureOut">
              <a:rPr lang="en-US" smtClean="0"/>
              <a:t>11/28/2024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F16D7E3-99DC-43FA-A728-E2A62BCF9455}" type="slidenum">
              <a:rPr lang="en-US" smtClean="0"/>
              <a:t>‹#›</a:t>
            </a:fld>
            <a:endParaRPr lang="en-US"/>
          </a:p>
        </p:txBody>
      </p:sp>
    </p:spTree>
    <p:extLst>
      <p:ext uri="{BB962C8B-B14F-4D97-AF65-F5344CB8AC3E}">
        <p14:creationId xmlns:p14="http://schemas.microsoft.com/office/powerpoint/2010/main" val="25840709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F16D7E3-99DC-43FA-A728-E2A62BCF9455}" type="slidenum">
              <a:rPr lang="en-US" smtClean="0"/>
              <a:t>‹#›</a:t>
            </a:fld>
            <a:endParaRPr lang="en-US"/>
          </a:p>
        </p:txBody>
      </p:sp>
      <p:sp>
        <p:nvSpPr>
          <p:cNvPr id="5" name="Date Placeholder 4"/>
          <p:cNvSpPr>
            <a:spLocks noGrp="1"/>
          </p:cNvSpPr>
          <p:nvPr>
            <p:ph type="dt" sz="half" idx="10"/>
          </p:nvPr>
        </p:nvSpPr>
        <p:spPr/>
        <p:txBody>
          <a:bodyPr/>
          <a:lstStyle/>
          <a:p>
            <a:fld id="{83EF03AF-17DE-43A7-8DA1-2FDECE57C23E}" type="datetimeFigureOut">
              <a:rPr lang="en-US" smtClean="0"/>
              <a:t>11/28/2024</a:t>
            </a:fld>
            <a:endParaRPr lang="en-US"/>
          </a:p>
        </p:txBody>
      </p:sp>
    </p:spTree>
    <p:extLst>
      <p:ext uri="{BB962C8B-B14F-4D97-AF65-F5344CB8AC3E}">
        <p14:creationId xmlns:p14="http://schemas.microsoft.com/office/powerpoint/2010/main" val="7174795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3EF03AF-17DE-43A7-8DA1-2FDECE57C23E}" type="datetimeFigureOut">
              <a:rPr lang="en-US" smtClean="0"/>
              <a:t>11/28/2024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16D7E3-99DC-43FA-A728-E2A62BCF9455}" type="slidenum">
              <a:rPr lang="en-US" smtClean="0"/>
              <a:t>‹#›</a:t>
            </a:fld>
            <a:endParaRPr lang="en-US"/>
          </a:p>
        </p:txBody>
      </p:sp>
    </p:spTree>
    <p:extLst>
      <p:ext uri="{BB962C8B-B14F-4D97-AF65-F5344CB8AC3E}">
        <p14:creationId xmlns:p14="http://schemas.microsoft.com/office/powerpoint/2010/main" val="1263838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3EF03AF-17DE-43A7-8DA1-2FDECE57C23E}" type="datetimeFigureOut">
              <a:rPr lang="en-US" smtClean="0"/>
              <a:t>11/28/2024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16D7E3-99DC-43FA-A728-E2A62BCF9455}"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6789853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3EF03AF-17DE-43A7-8DA1-2FDECE57C23E}" type="datetimeFigureOut">
              <a:rPr lang="en-US" smtClean="0"/>
              <a:t>11/28/2024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16D7E3-99DC-43FA-A728-E2A62BCF9455}" type="slidenum">
              <a:rPr lang="en-US" smtClean="0"/>
              <a:t>‹#›</a:t>
            </a:fld>
            <a:endParaRPr lang="en-US"/>
          </a:p>
        </p:txBody>
      </p:sp>
    </p:spTree>
    <p:extLst>
      <p:ext uri="{BB962C8B-B14F-4D97-AF65-F5344CB8AC3E}">
        <p14:creationId xmlns:p14="http://schemas.microsoft.com/office/powerpoint/2010/main" val="13339152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3EF03AF-17DE-43A7-8DA1-2FDECE57C23E}" type="datetimeFigureOut">
              <a:rPr lang="en-US" smtClean="0"/>
              <a:t>11/28/2024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16D7E3-99DC-43FA-A728-E2A62BCF9455}"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9703205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3EF03AF-17DE-43A7-8DA1-2FDECE57C23E}" type="datetimeFigureOut">
              <a:rPr lang="en-US" smtClean="0"/>
              <a:t>11/28/2024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16D7E3-99DC-43FA-A728-E2A62BCF9455}" type="slidenum">
              <a:rPr lang="en-US" smtClean="0"/>
              <a:t>‹#›</a:t>
            </a:fld>
            <a:endParaRPr lang="en-US"/>
          </a:p>
        </p:txBody>
      </p:sp>
    </p:spTree>
    <p:extLst>
      <p:ext uri="{BB962C8B-B14F-4D97-AF65-F5344CB8AC3E}">
        <p14:creationId xmlns:p14="http://schemas.microsoft.com/office/powerpoint/2010/main" val="27331720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EF03AF-17DE-43A7-8DA1-2FDECE57C23E}" type="datetimeFigureOut">
              <a:rPr lang="en-US" smtClean="0"/>
              <a:t>11/28/2024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16D7E3-99DC-43FA-A728-E2A62BCF9455}" type="slidenum">
              <a:rPr lang="en-US" smtClean="0"/>
              <a:t>‹#›</a:t>
            </a:fld>
            <a:endParaRPr lang="en-US"/>
          </a:p>
        </p:txBody>
      </p:sp>
    </p:spTree>
    <p:extLst>
      <p:ext uri="{BB962C8B-B14F-4D97-AF65-F5344CB8AC3E}">
        <p14:creationId xmlns:p14="http://schemas.microsoft.com/office/powerpoint/2010/main" val="13203367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EF03AF-17DE-43A7-8DA1-2FDECE57C23E}" type="datetimeFigureOut">
              <a:rPr lang="en-US" smtClean="0"/>
              <a:t>11/28/2024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16D7E3-99DC-43FA-A728-E2A62BCF9455}" type="slidenum">
              <a:rPr lang="en-US" smtClean="0"/>
              <a:t>‹#›</a:t>
            </a:fld>
            <a:endParaRPr lang="en-US"/>
          </a:p>
        </p:txBody>
      </p:sp>
    </p:spTree>
    <p:extLst>
      <p:ext uri="{BB962C8B-B14F-4D97-AF65-F5344CB8AC3E}">
        <p14:creationId xmlns:p14="http://schemas.microsoft.com/office/powerpoint/2010/main" val="16581629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83EF03AF-17DE-43A7-8DA1-2FDECE57C23E}" type="datetimeFigureOut">
              <a:rPr lang="en-US" smtClean="0"/>
              <a:t>11/28/2024</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F16D7E3-99DC-43FA-A728-E2A62BCF9455}" type="slidenum">
              <a:rPr lang="en-US" smtClean="0"/>
              <a:t>‹#›</a:t>
            </a:fld>
            <a:endParaRPr lang="en-US"/>
          </a:p>
        </p:txBody>
      </p:sp>
    </p:spTree>
    <p:extLst>
      <p:ext uri="{BB962C8B-B14F-4D97-AF65-F5344CB8AC3E}">
        <p14:creationId xmlns:p14="http://schemas.microsoft.com/office/powerpoint/2010/main" val="1303971714"/>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ECDF434-0C32-4383-7C4F-0415E714AD32}"/>
              </a:ext>
            </a:extLst>
          </p:cNvPr>
          <p:cNvSpPr txBox="1"/>
          <p:nvPr/>
        </p:nvSpPr>
        <p:spPr>
          <a:xfrm>
            <a:off x="2305050" y="1531620"/>
            <a:ext cx="6103620" cy="646331"/>
          </a:xfrm>
          <a:prstGeom prst="rect">
            <a:avLst/>
          </a:prstGeom>
          <a:noFill/>
        </p:spPr>
        <p:txBody>
          <a:bodyPr wrap="square">
            <a:spAutoFit/>
          </a:bodyPr>
          <a:lstStyle/>
          <a:p>
            <a:endParaRPr lang="en-US" dirty="0"/>
          </a:p>
          <a:p>
            <a:r>
              <a:rPr lang="en-US" b="1" dirty="0">
                <a:solidFill>
                  <a:srgbClr val="FF0000"/>
                </a:solidFill>
              </a:rPr>
              <a:t>EFFICIO : A PROJECT MANAGEMENT SYSTEM</a:t>
            </a:r>
          </a:p>
        </p:txBody>
      </p:sp>
      <p:sp>
        <p:nvSpPr>
          <p:cNvPr id="7" name="TextBox 6">
            <a:extLst>
              <a:ext uri="{FF2B5EF4-FFF2-40B4-BE49-F238E27FC236}">
                <a16:creationId xmlns:a16="http://schemas.microsoft.com/office/drawing/2014/main" id="{CA8C7FEB-E6D6-BCF2-4957-0AAF065F992B}"/>
              </a:ext>
            </a:extLst>
          </p:cNvPr>
          <p:cNvSpPr txBox="1"/>
          <p:nvPr/>
        </p:nvSpPr>
        <p:spPr>
          <a:xfrm>
            <a:off x="2150745" y="3031480"/>
            <a:ext cx="6099810" cy="2031325"/>
          </a:xfrm>
          <a:prstGeom prst="rect">
            <a:avLst/>
          </a:prstGeom>
          <a:noFill/>
        </p:spPr>
        <p:txBody>
          <a:bodyPr wrap="square">
            <a:spAutoFit/>
          </a:bodyPr>
          <a:lstStyle/>
          <a:p>
            <a:endParaRPr lang="en-US" dirty="0"/>
          </a:p>
          <a:p>
            <a:r>
              <a:rPr lang="en-US" b="1" dirty="0">
                <a:solidFill>
                  <a:schemeClr val="accent3"/>
                </a:solidFill>
              </a:rPr>
              <a:t>Team  </a:t>
            </a:r>
            <a:r>
              <a:rPr lang="en-US" b="1" dirty="0" err="1">
                <a:solidFill>
                  <a:schemeClr val="accent3"/>
                </a:solidFill>
              </a:rPr>
              <a:t>Memebers</a:t>
            </a:r>
            <a:r>
              <a:rPr lang="en-US" b="1" dirty="0">
                <a:solidFill>
                  <a:schemeClr val="accent3"/>
                </a:solidFill>
              </a:rPr>
              <a:t>:</a:t>
            </a:r>
          </a:p>
          <a:p>
            <a:endParaRPr lang="en-US" dirty="0"/>
          </a:p>
          <a:p>
            <a:r>
              <a:rPr lang="en-US" dirty="0"/>
              <a:t>Gaurav Ghimire, 211549</a:t>
            </a:r>
          </a:p>
          <a:p>
            <a:r>
              <a:rPr lang="en-US" dirty="0" err="1"/>
              <a:t>Prayash</a:t>
            </a:r>
            <a:r>
              <a:rPr lang="en-US" dirty="0"/>
              <a:t> Bhattarai, 211530</a:t>
            </a:r>
          </a:p>
          <a:p>
            <a:r>
              <a:rPr lang="en-US" dirty="0"/>
              <a:t>Ram </a:t>
            </a:r>
            <a:r>
              <a:rPr lang="en-US" dirty="0" err="1"/>
              <a:t>kumar</a:t>
            </a:r>
            <a:r>
              <a:rPr lang="en-US" dirty="0"/>
              <a:t> Isar, 211532</a:t>
            </a:r>
          </a:p>
          <a:p>
            <a:r>
              <a:rPr lang="en-US" dirty="0" err="1"/>
              <a:t>Swornim</a:t>
            </a:r>
            <a:r>
              <a:rPr lang="en-US" dirty="0"/>
              <a:t>  </a:t>
            </a:r>
            <a:r>
              <a:rPr lang="en-US" dirty="0" err="1"/>
              <a:t>Bajracharya</a:t>
            </a:r>
            <a:r>
              <a:rPr lang="en-US" dirty="0"/>
              <a:t>, 211539</a:t>
            </a:r>
          </a:p>
        </p:txBody>
      </p:sp>
    </p:spTree>
    <p:extLst>
      <p:ext uri="{BB962C8B-B14F-4D97-AF65-F5344CB8AC3E}">
        <p14:creationId xmlns:p14="http://schemas.microsoft.com/office/powerpoint/2010/main" val="17071954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155F115-7140-4B97-1F28-21F3D54D6E5E}"/>
              </a:ext>
            </a:extLst>
          </p:cNvPr>
          <p:cNvSpPr txBox="1"/>
          <p:nvPr/>
        </p:nvSpPr>
        <p:spPr>
          <a:xfrm>
            <a:off x="647700" y="2095500"/>
            <a:ext cx="8502015" cy="2431435"/>
          </a:xfrm>
          <a:prstGeom prst="rect">
            <a:avLst/>
          </a:prstGeom>
          <a:noFill/>
        </p:spPr>
        <p:txBody>
          <a:bodyPr wrap="square">
            <a:spAutoFit/>
          </a:bodyPr>
          <a:lstStyle/>
          <a:p>
            <a:endParaRPr lang="en-US" dirty="0"/>
          </a:p>
          <a:p>
            <a:r>
              <a:rPr lang="en-US" b="1" dirty="0">
                <a:solidFill>
                  <a:srgbClr val="FF0000"/>
                </a:solidFill>
              </a:rPr>
              <a:t> Introduction</a:t>
            </a:r>
          </a:p>
          <a:p>
            <a:endParaRPr lang="en-US" b="1" dirty="0">
              <a:solidFill>
                <a:srgbClr val="FF0000"/>
              </a:solidFill>
            </a:endParaRPr>
          </a:p>
          <a:p>
            <a:r>
              <a:rPr lang="en-US" sz="1400" dirty="0"/>
              <a:t>The Project Management System is a web-based platform designed to simplify project organization and collaboration. Its front-end, built with React and Tailwind CSS, offers an intuitive and user-friendly interface. The back-end, powered by Spring Boot, ensures secure and efficient data management with seamless API communications. To address localized needs, the system integrates Khalti for secure payment processing. It also automates email notifications using Spring Mail, keeping users informed about project updates. Users can create and manage projects, assign tasks, and track progress in real-time through a visually appealing interface.</a:t>
            </a:r>
          </a:p>
        </p:txBody>
      </p:sp>
    </p:spTree>
    <p:extLst>
      <p:ext uri="{BB962C8B-B14F-4D97-AF65-F5344CB8AC3E}">
        <p14:creationId xmlns:p14="http://schemas.microsoft.com/office/powerpoint/2010/main" val="16048690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757C4E1-4560-4336-8D05-C6C4DE157350}"/>
              </a:ext>
            </a:extLst>
          </p:cNvPr>
          <p:cNvSpPr txBox="1"/>
          <p:nvPr/>
        </p:nvSpPr>
        <p:spPr>
          <a:xfrm>
            <a:off x="746760" y="2095500"/>
            <a:ext cx="8402955" cy="1508105"/>
          </a:xfrm>
          <a:prstGeom prst="rect">
            <a:avLst/>
          </a:prstGeom>
          <a:noFill/>
        </p:spPr>
        <p:txBody>
          <a:bodyPr wrap="square">
            <a:spAutoFit/>
          </a:bodyPr>
          <a:lstStyle/>
          <a:p>
            <a:r>
              <a:rPr lang="en-US" dirty="0"/>
              <a:t> </a:t>
            </a:r>
            <a:r>
              <a:rPr lang="en-US" b="1" dirty="0">
                <a:solidFill>
                  <a:srgbClr val="FF0000"/>
                </a:solidFill>
              </a:rPr>
              <a:t>Problem Statement</a:t>
            </a:r>
          </a:p>
          <a:p>
            <a:endParaRPr lang="en-US" dirty="0"/>
          </a:p>
          <a:p>
            <a:r>
              <a:rPr lang="en-US" sz="1400" dirty="0"/>
              <a:t>Traditional project management methods often rely on disjointed tools and manual processes, leading to inefficiencies and errors. Existing systems may lack secure access, seamless task management, and</a:t>
            </a:r>
          </a:p>
          <a:p>
            <a:r>
              <a:rPr lang="en-US" sz="1400" dirty="0"/>
              <a:t>integration for local payment systems like Khalti. This project resolve these issues by offering an integrated platform with advanced security and usability, using Nepal's digital payment ecosystem.</a:t>
            </a:r>
          </a:p>
        </p:txBody>
      </p:sp>
    </p:spTree>
    <p:extLst>
      <p:ext uri="{BB962C8B-B14F-4D97-AF65-F5344CB8AC3E}">
        <p14:creationId xmlns:p14="http://schemas.microsoft.com/office/powerpoint/2010/main" val="17137543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C52B6B6-E840-EC72-8B17-DF693406F121}"/>
              </a:ext>
            </a:extLst>
          </p:cNvPr>
          <p:cNvSpPr txBox="1"/>
          <p:nvPr/>
        </p:nvSpPr>
        <p:spPr>
          <a:xfrm>
            <a:off x="601980" y="3268980"/>
            <a:ext cx="8547735" cy="1292662"/>
          </a:xfrm>
          <a:prstGeom prst="rect">
            <a:avLst/>
          </a:prstGeom>
          <a:noFill/>
        </p:spPr>
        <p:txBody>
          <a:bodyPr wrap="square">
            <a:spAutoFit/>
          </a:bodyPr>
          <a:lstStyle/>
          <a:p>
            <a:r>
              <a:rPr lang="en-US" b="1" dirty="0">
                <a:solidFill>
                  <a:srgbClr val="FF0000"/>
                </a:solidFill>
              </a:rPr>
              <a:t> Objectives</a:t>
            </a:r>
          </a:p>
          <a:p>
            <a:endParaRPr lang="en-US" dirty="0"/>
          </a:p>
          <a:p>
            <a:r>
              <a:rPr lang="en-US" sz="1400" dirty="0"/>
              <a:t>To develop a </a:t>
            </a:r>
            <a:r>
              <a:rPr lang="en-US" sz="1400" b="1" dirty="0">
                <a:solidFill>
                  <a:srgbClr val="C00000"/>
                </a:solidFill>
              </a:rPr>
              <a:t>visually appealing project management system </a:t>
            </a:r>
            <a:r>
              <a:rPr lang="en-US" sz="1400" dirty="0"/>
              <a:t>with a React and Tailwind CSS front- end, secure Spring Boot back-end APIs, integration of Khalti for localized payment processing, and automated email notifications using Spring Mail, ensuring seamless functionality and user experience.</a:t>
            </a:r>
          </a:p>
        </p:txBody>
      </p:sp>
    </p:spTree>
    <p:extLst>
      <p:ext uri="{BB962C8B-B14F-4D97-AF65-F5344CB8AC3E}">
        <p14:creationId xmlns:p14="http://schemas.microsoft.com/office/powerpoint/2010/main" val="22315433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691AFD7-5305-77E1-1A8F-4A947B942E01}"/>
              </a:ext>
            </a:extLst>
          </p:cNvPr>
          <p:cNvSpPr txBox="1"/>
          <p:nvPr/>
        </p:nvSpPr>
        <p:spPr>
          <a:xfrm>
            <a:off x="800100" y="2324099"/>
            <a:ext cx="8349615" cy="2708434"/>
          </a:xfrm>
          <a:prstGeom prst="rect">
            <a:avLst/>
          </a:prstGeom>
          <a:noFill/>
        </p:spPr>
        <p:txBody>
          <a:bodyPr wrap="square">
            <a:spAutoFit/>
          </a:bodyPr>
          <a:lstStyle/>
          <a:p>
            <a:r>
              <a:rPr lang="en-US" b="1" dirty="0">
                <a:solidFill>
                  <a:srgbClr val="FF0000"/>
                </a:solidFill>
              </a:rPr>
              <a:t>Project Scope and Limitation</a:t>
            </a:r>
          </a:p>
          <a:p>
            <a:endParaRPr lang="en-US" dirty="0"/>
          </a:p>
          <a:p>
            <a:r>
              <a:rPr lang="en-US" b="1" dirty="0">
                <a:solidFill>
                  <a:schemeClr val="accent3"/>
                </a:solidFill>
              </a:rPr>
              <a:t>Scope</a:t>
            </a:r>
          </a:p>
          <a:p>
            <a:endParaRPr lang="en-US" b="1" dirty="0">
              <a:solidFill>
                <a:schemeClr val="accent3"/>
              </a:solidFill>
            </a:endParaRPr>
          </a:p>
          <a:p>
            <a:r>
              <a:rPr lang="en-US" sz="1400" dirty="0"/>
              <a:t>• back-end APIs using Spring Boot, supporting secure data flow.</a:t>
            </a:r>
          </a:p>
          <a:p>
            <a:endParaRPr lang="en-US" sz="1400" dirty="0"/>
          </a:p>
          <a:p>
            <a:r>
              <a:rPr lang="en-US" sz="1400" dirty="0"/>
              <a:t>• visually appealing front-end using React and Tailwind CSS.</a:t>
            </a:r>
          </a:p>
          <a:p>
            <a:endParaRPr lang="en-US" sz="1400" dirty="0"/>
          </a:p>
          <a:p>
            <a:r>
              <a:rPr lang="en-US" sz="1400" dirty="0"/>
              <a:t>• Integration of Khalti for secure and localized payment processing.</a:t>
            </a:r>
          </a:p>
          <a:p>
            <a:endParaRPr lang="en-US" sz="1400" dirty="0"/>
          </a:p>
          <a:p>
            <a:r>
              <a:rPr lang="en-US" sz="1400" dirty="0"/>
              <a:t>• Automation email notifications for project updates using Spring mail.</a:t>
            </a:r>
          </a:p>
        </p:txBody>
      </p:sp>
    </p:spTree>
    <p:extLst>
      <p:ext uri="{BB962C8B-B14F-4D97-AF65-F5344CB8AC3E}">
        <p14:creationId xmlns:p14="http://schemas.microsoft.com/office/powerpoint/2010/main" val="38443394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3580720-F717-99B4-5C30-2080C2424930}"/>
              </a:ext>
            </a:extLst>
          </p:cNvPr>
          <p:cNvSpPr txBox="1"/>
          <p:nvPr/>
        </p:nvSpPr>
        <p:spPr>
          <a:xfrm>
            <a:off x="518160" y="1539240"/>
            <a:ext cx="8630412" cy="2708434"/>
          </a:xfrm>
          <a:prstGeom prst="rect">
            <a:avLst/>
          </a:prstGeom>
          <a:noFill/>
        </p:spPr>
        <p:txBody>
          <a:bodyPr wrap="square">
            <a:spAutoFit/>
          </a:bodyPr>
          <a:lstStyle/>
          <a:p>
            <a:endParaRPr lang="en-US" dirty="0"/>
          </a:p>
          <a:p>
            <a:r>
              <a:rPr lang="en-US" b="1" dirty="0">
                <a:solidFill>
                  <a:schemeClr val="accent3"/>
                </a:solidFill>
              </a:rPr>
              <a:t>Limitations</a:t>
            </a:r>
          </a:p>
          <a:p>
            <a:endParaRPr lang="en-US" b="1" dirty="0">
              <a:solidFill>
                <a:schemeClr val="accent3"/>
              </a:solidFill>
            </a:endParaRPr>
          </a:p>
          <a:p>
            <a:r>
              <a:rPr lang="en-US" dirty="0"/>
              <a:t>▪ </a:t>
            </a:r>
            <a:r>
              <a:rPr lang="en-US" sz="1400" dirty="0"/>
              <a:t>The system's payment processing is limited to Khalti, restricting its usage for users outside Nepal or those preferring other payment gateways.</a:t>
            </a:r>
          </a:p>
          <a:p>
            <a:endParaRPr lang="en-US" sz="1400" dirty="0"/>
          </a:p>
          <a:p>
            <a:r>
              <a:rPr lang="en-US" sz="1400" dirty="0"/>
              <a:t>▪ Advanced project management features such as Gantt charts or Kanban boards are not included ,which may limit its appeal to large-scale projects.</a:t>
            </a:r>
          </a:p>
          <a:p>
            <a:endParaRPr lang="en-US" sz="1400" dirty="0"/>
          </a:p>
          <a:p>
            <a:r>
              <a:rPr lang="en-US" sz="1400" dirty="0"/>
              <a:t>▪ The email notification system depends on the proper configuration of the mail server, which might face issues like spam.</a:t>
            </a:r>
          </a:p>
        </p:txBody>
      </p:sp>
    </p:spTree>
    <p:extLst>
      <p:ext uri="{BB962C8B-B14F-4D97-AF65-F5344CB8AC3E}">
        <p14:creationId xmlns:p14="http://schemas.microsoft.com/office/powerpoint/2010/main" val="29108223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22A9128-26FD-AC46-02A3-8F5342C4F3D2}"/>
              </a:ext>
            </a:extLst>
          </p:cNvPr>
          <p:cNvSpPr txBox="1"/>
          <p:nvPr/>
        </p:nvSpPr>
        <p:spPr>
          <a:xfrm>
            <a:off x="640080" y="481584"/>
            <a:ext cx="8046720" cy="4093428"/>
          </a:xfrm>
          <a:prstGeom prst="rect">
            <a:avLst/>
          </a:prstGeom>
          <a:noFill/>
        </p:spPr>
        <p:txBody>
          <a:bodyPr wrap="square">
            <a:spAutoFit/>
          </a:bodyPr>
          <a:lstStyle/>
          <a:p>
            <a:r>
              <a:rPr lang="en-US" b="1" dirty="0">
                <a:solidFill>
                  <a:srgbClr val="FF0000"/>
                </a:solidFill>
              </a:rPr>
              <a:t>Literature Review</a:t>
            </a:r>
          </a:p>
          <a:p>
            <a:endParaRPr lang="en-US" dirty="0"/>
          </a:p>
          <a:p>
            <a:r>
              <a:rPr lang="en-US" sz="1400" dirty="0"/>
              <a:t>Project management systems have evolved significantly over time, shaped by the changing needs of businesses and advancements in technology. The field formalized with methodologies like the Gantt Chart (developed by Henry Gantt in the 1910s) in the 1950s. These tools allowed for better visualization of project timelines and dependency tracking. During this period, industries like construction, manufacturing, and defense began adopting project management principles. The rise of computers in the 1970s led to the development of software tools for project management, such as Primavera and Microsoft Project. These tools automated planning, tracking, and resource management, making it easier for teams to handle complex projects. The 2000s saw the emergence of web-based project management systems, driven by the rise of the internet.</a:t>
            </a:r>
          </a:p>
          <a:p>
            <a:endParaRPr lang="en-US" sz="1400" dirty="0"/>
          </a:p>
          <a:p>
            <a:r>
              <a:rPr lang="en-US" sz="1400" dirty="0"/>
              <a:t>In this context, </a:t>
            </a:r>
            <a:r>
              <a:rPr lang="en-US" sz="1400" dirty="0" err="1"/>
              <a:t>Efficio</a:t>
            </a:r>
            <a:r>
              <a:rPr lang="en-US" sz="1400" dirty="0"/>
              <a:t> emerges as a next-generation project management system that incorporates both the legacy of earlier tools and the innovative features of modern solutions. </a:t>
            </a:r>
            <a:r>
              <a:rPr lang="en-US" sz="1400" dirty="0" err="1"/>
              <a:t>Efficio</a:t>
            </a:r>
            <a:r>
              <a:rPr lang="en-US" sz="1400" dirty="0"/>
              <a:t> is designed to provide users with an intuitive front-end interface built with React and Tailwind CSS, ensuring a visually appealing and responsive experience. The back-end, powered by Spring Boot, ensures secure data management and streamlined communication through robust APIs, allowing teams to collaborate efficiently.</a:t>
            </a:r>
          </a:p>
        </p:txBody>
      </p:sp>
    </p:spTree>
    <p:extLst>
      <p:ext uri="{BB962C8B-B14F-4D97-AF65-F5344CB8AC3E}">
        <p14:creationId xmlns:p14="http://schemas.microsoft.com/office/powerpoint/2010/main" val="40466871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3983DDE-621F-A6FA-11E2-6F3F7B8B10DB}"/>
              </a:ext>
            </a:extLst>
          </p:cNvPr>
          <p:cNvSpPr txBox="1"/>
          <p:nvPr/>
        </p:nvSpPr>
        <p:spPr>
          <a:xfrm>
            <a:off x="938784" y="1060704"/>
            <a:ext cx="8215884" cy="2431435"/>
          </a:xfrm>
          <a:prstGeom prst="rect">
            <a:avLst/>
          </a:prstGeom>
          <a:noFill/>
        </p:spPr>
        <p:txBody>
          <a:bodyPr wrap="square">
            <a:spAutoFit/>
          </a:bodyPr>
          <a:lstStyle/>
          <a:p>
            <a:endParaRPr lang="en-US" dirty="0"/>
          </a:p>
          <a:p>
            <a:r>
              <a:rPr lang="en-US" b="1" dirty="0">
                <a:solidFill>
                  <a:srgbClr val="FF0000"/>
                </a:solidFill>
              </a:rPr>
              <a:t>Methodology</a:t>
            </a:r>
          </a:p>
          <a:p>
            <a:endParaRPr lang="en-US" b="1" dirty="0">
              <a:solidFill>
                <a:srgbClr val="FF0000"/>
              </a:solidFill>
            </a:endParaRPr>
          </a:p>
          <a:p>
            <a:r>
              <a:rPr lang="en-US" sz="1400" dirty="0"/>
              <a:t>We have planned to work following methodologies in order to meet the requirement of our project.</a:t>
            </a:r>
          </a:p>
          <a:p>
            <a:endParaRPr lang="en-US" sz="1400" dirty="0"/>
          </a:p>
          <a:p>
            <a:r>
              <a:rPr lang="en-US" sz="1400" dirty="0"/>
              <a:t> </a:t>
            </a:r>
            <a:r>
              <a:rPr lang="en-US" sz="1400" b="1" dirty="0">
                <a:solidFill>
                  <a:srgbClr val="FF0000"/>
                </a:solidFill>
              </a:rPr>
              <a:t>SOFTWARE DEVELOPMENT LIFECYCLE</a:t>
            </a:r>
          </a:p>
          <a:p>
            <a:endParaRPr lang="en-US" sz="1400" b="1" dirty="0">
              <a:solidFill>
                <a:srgbClr val="FF0000"/>
              </a:solidFill>
            </a:endParaRPr>
          </a:p>
          <a:p>
            <a:r>
              <a:rPr lang="en-US" sz="1400" dirty="0"/>
              <a:t>For the software development process of our project, we’ve opted for the </a:t>
            </a:r>
            <a:r>
              <a:rPr lang="en-US" sz="1400" dirty="0">
                <a:solidFill>
                  <a:srgbClr val="C00000"/>
                </a:solidFill>
              </a:rPr>
              <a:t>Incremental </a:t>
            </a:r>
            <a:r>
              <a:rPr lang="en-US" sz="1400" dirty="0" err="1">
                <a:solidFill>
                  <a:srgbClr val="C00000"/>
                </a:solidFill>
              </a:rPr>
              <a:t>Model</a:t>
            </a:r>
            <a:r>
              <a:rPr lang="en-US" sz="1400" dirty="0" err="1"/>
              <a:t>,which</a:t>
            </a:r>
            <a:endParaRPr lang="en-US" sz="1400" dirty="0"/>
          </a:p>
          <a:p>
            <a:r>
              <a:rPr lang="en-US" sz="1400" dirty="0"/>
              <a:t>involves building the system incrementally over multiple iterations. Each iteration encompasses the</a:t>
            </a:r>
          </a:p>
          <a:p>
            <a:r>
              <a:rPr lang="en-US" sz="1400" dirty="0"/>
              <a:t>Analysis, Design, Coding and Testing phases</a:t>
            </a:r>
          </a:p>
        </p:txBody>
      </p:sp>
    </p:spTree>
    <p:extLst>
      <p:ext uri="{BB962C8B-B14F-4D97-AF65-F5344CB8AC3E}">
        <p14:creationId xmlns:p14="http://schemas.microsoft.com/office/powerpoint/2010/main" val="14532067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5C2C169-05C9-BFF6-5BFC-3D718592C145}"/>
              </a:ext>
            </a:extLst>
          </p:cNvPr>
          <p:cNvSpPr txBox="1"/>
          <p:nvPr/>
        </p:nvSpPr>
        <p:spPr>
          <a:xfrm>
            <a:off x="676656" y="341376"/>
            <a:ext cx="8471916" cy="3847207"/>
          </a:xfrm>
          <a:prstGeom prst="rect">
            <a:avLst/>
          </a:prstGeom>
          <a:noFill/>
        </p:spPr>
        <p:txBody>
          <a:bodyPr wrap="square">
            <a:spAutoFit/>
          </a:bodyPr>
          <a:lstStyle/>
          <a:p>
            <a:endParaRPr lang="en-US" dirty="0"/>
          </a:p>
          <a:p>
            <a:r>
              <a:rPr lang="en-US" b="1" dirty="0">
                <a:solidFill>
                  <a:schemeClr val="accent3"/>
                </a:solidFill>
              </a:rPr>
              <a:t>Iteration 1: User Authentication and Role Management</a:t>
            </a:r>
          </a:p>
          <a:p>
            <a:endParaRPr lang="en-US" dirty="0"/>
          </a:p>
          <a:p>
            <a:r>
              <a:rPr lang="en-US" sz="1400" dirty="0"/>
              <a:t>In this iteration, we focus on the Analysis of user requirements related to authentication and role</a:t>
            </a:r>
          </a:p>
          <a:p>
            <a:r>
              <a:rPr lang="en-US" sz="1400" dirty="0"/>
              <a:t>management. The Design phase defines a simple database schema for users and their roles. During Coding , we implement user registration, login, and password recovery features. Testing ensures secure</a:t>
            </a:r>
          </a:p>
          <a:p>
            <a:r>
              <a:rPr lang="en-US" sz="1400" dirty="0"/>
              <a:t>authentication, covering edge cases like invalid credentials and password resets. This iteration lays the</a:t>
            </a:r>
          </a:p>
          <a:p>
            <a:r>
              <a:rPr lang="en-US" sz="1400" dirty="0"/>
              <a:t>foundation by ensuring secure access to the system.</a:t>
            </a:r>
          </a:p>
          <a:p>
            <a:endParaRPr lang="en-US" sz="1400" dirty="0"/>
          </a:p>
          <a:p>
            <a:r>
              <a:rPr lang="en-US" b="1" dirty="0">
                <a:solidFill>
                  <a:schemeClr val="accent3"/>
                </a:solidFill>
              </a:rPr>
              <a:t>Iteration 2: Project and Task Management</a:t>
            </a:r>
          </a:p>
          <a:p>
            <a:endParaRPr lang="en-US" b="1" dirty="0">
              <a:solidFill>
                <a:schemeClr val="accent3"/>
              </a:solidFill>
            </a:endParaRPr>
          </a:p>
          <a:p>
            <a:r>
              <a:rPr lang="en-US" sz="1400" dirty="0"/>
              <a:t>The second iteration expands on project management features. The Analysis phase identifies the need for project creation, task assignment, and deadlines. Design involves creating project and task entities, ensuring clear relationships. Coding focuses on implementing features for Project Managers to create projects, assign tasks, and monitor deadlines. Testing validates the accuracy of task assignments and deadline tracking, ensuring smooth project management workflows.</a:t>
            </a:r>
          </a:p>
        </p:txBody>
      </p:sp>
    </p:spTree>
    <p:extLst>
      <p:ext uri="{BB962C8B-B14F-4D97-AF65-F5344CB8AC3E}">
        <p14:creationId xmlns:p14="http://schemas.microsoft.com/office/powerpoint/2010/main" val="23309069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EAA2F71-2156-CDDD-F0E5-6ECA79549DF7}"/>
              </a:ext>
            </a:extLst>
          </p:cNvPr>
          <p:cNvSpPr txBox="1"/>
          <p:nvPr/>
        </p:nvSpPr>
        <p:spPr>
          <a:xfrm>
            <a:off x="810768" y="2194560"/>
            <a:ext cx="8337804" cy="2154436"/>
          </a:xfrm>
          <a:prstGeom prst="rect">
            <a:avLst/>
          </a:prstGeom>
          <a:noFill/>
        </p:spPr>
        <p:txBody>
          <a:bodyPr wrap="square">
            <a:spAutoFit/>
          </a:bodyPr>
          <a:lstStyle/>
          <a:p>
            <a:r>
              <a:rPr lang="en-US" b="1" dirty="0">
                <a:solidFill>
                  <a:schemeClr val="accent3"/>
                </a:solidFill>
              </a:rPr>
              <a:t>Iteration 3: Client Feedback and Reporting</a:t>
            </a:r>
          </a:p>
          <a:p>
            <a:endParaRPr lang="en-US" b="1" dirty="0">
              <a:solidFill>
                <a:schemeClr val="accent3"/>
              </a:solidFill>
            </a:endParaRPr>
          </a:p>
          <a:p>
            <a:r>
              <a:rPr lang="en-US" sz="1400" dirty="0"/>
              <a:t>In the final iteration, Analysis gathers requirements for client feedback and project performance </a:t>
            </a:r>
            <a:r>
              <a:rPr lang="en-US" sz="1400" dirty="0" err="1"/>
              <a:t>reportings</a:t>
            </a:r>
            <a:r>
              <a:rPr lang="en-US" sz="1400" dirty="0"/>
              <a:t>. The Design includes UI wireframes for client feedback forms and report generation. Coding implements functionality for clients to provide feedback and for Admins/Managers to generate performance reports. Testing checks the accuracy of feedback handling and the reliability of reports, ensuring the system provides actionable insights.</a:t>
            </a:r>
          </a:p>
          <a:p>
            <a:r>
              <a:rPr lang="en-US" sz="1400" dirty="0"/>
              <a:t>Each iteration progressively builds on the previous, delivering functional parts of the system while</a:t>
            </a:r>
          </a:p>
          <a:p>
            <a:r>
              <a:rPr lang="en-US" sz="1400" dirty="0"/>
              <a:t>incorporating feedback for continuous improvement.</a:t>
            </a:r>
          </a:p>
        </p:txBody>
      </p:sp>
    </p:spTree>
    <p:extLst>
      <p:ext uri="{BB962C8B-B14F-4D97-AF65-F5344CB8AC3E}">
        <p14:creationId xmlns:p14="http://schemas.microsoft.com/office/powerpoint/2010/main" val="15891941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9CBCBBB-3755-6D39-9B00-3C6AE3FE0BA4}"/>
              </a:ext>
            </a:extLst>
          </p:cNvPr>
          <p:cNvSpPr txBox="1"/>
          <p:nvPr/>
        </p:nvSpPr>
        <p:spPr>
          <a:xfrm>
            <a:off x="579120" y="554736"/>
            <a:ext cx="8569452" cy="2339102"/>
          </a:xfrm>
          <a:prstGeom prst="rect">
            <a:avLst/>
          </a:prstGeom>
          <a:noFill/>
        </p:spPr>
        <p:txBody>
          <a:bodyPr wrap="square">
            <a:spAutoFit/>
          </a:bodyPr>
          <a:lstStyle/>
          <a:p>
            <a:endParaRPr lang="en-US" b="1" dirty="0">
              <a:solidFill>
                <a:srgbClr val="FF0000"/>
              </a:solidFill>
            </a:endParaRPr>
          </a:p>
          <a:p>
            <a:r>
              <a:rPr lang="en-US" b="1" dirty="0">
                <a:solidFill>
                  <a:srgbClr val="FF0000"/>
                </a:solidFill>
              </a:rPr>
              <a:t> Technical Description</a:t>
            </a:r>
          </a:p>
          <a:p>
            <a:endParaRPr lang="en-US" b="1" dirty="0">
              <a:solidFill>
                <a:srgbClr val="FF0000"/>
              </a:solidFill>
            </a:endParaRPr>
          </a:p>
          <a:p>
            <a:r>
              <a:rPr lang="en-US" dirty="0"/>
              <a:t> </a:t>
            </a:r>
            <a:r>
              <a:rPr lang="en-US" b="1" dirty="0">
                <a:solidFill>
                  <a:schemeClr val="accent3"/>
                </a:solidFill>
              </a:rPr>
              <a:t>Use Case Diagram</a:t>
            </a:r>
          </a:p>
          <a:p>
            <a:endParaRPr lang="en-US" b="1" dirty="0">
              <a:solidFill>
                <a:schemeClr val="accent3"/>
              </a:solidFill>
            </a:endParaRPr>
          </a:p>
          <a:p>
            <a:r>
              <a:rPr lang="en-US" sz="1400" dirty="0"/>
              <a:t>A Use Case Diagram is a visual representation that illustrates the interactions between users (actors) and a system. It captures the functional requirements of a system, showing how different users engage with various use cases, or specific functionalities, within the system. The use case for project management system is given below:</a:t>
            </a:r>
          </a:p>
        </p:txBody>
      </p:sp>
    </p:spTree>
    <p:extLst>
      <p:ext uri="{BB962C8B-B14F-4D97-AF65-F5344CB8AC3E}">
        <p14:creationId xmlns:p14="http://schemas.microsoft.com/office/powerpoint/2010/main" val="30359429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A40B0-A9A4-0A8A-EA07-2AE1B8A8E390}"/>
              </a:ext>
            </a:extLst>
          </p:cNvPr>
          <p:cNvSpPr>
            <a:spLocks noGrp="1"/>
          </p:cNvSpPr>
          <p:nvPr>
            <p:ph type="title"/>
          </p:nvPr>
        </p:nvSpPr>
        <p:spPr/>
        <p:txBody>
          <a:bodyPr/>
          <a:lstStyle/>
          <a:p>
            <a:endParaRPr lang="en-US"/>
          </a:p>
        </p:txBody>
      </p:sp>
      <p:sp>
        <p:nvSpPr>
          <p:cNvPr id="3" name="Picture Placeholder 2">
            <a:extLst>
              <a:ext uri="{FF2B5EF4-FFF2-40B4-BE49-F238E27FC236}">
                <a16:creationId xmlns:a16="http://schemas.microsoft.com/office/drawing/2014/main" id="{8E235438-E8A0-D75D-C377-F1936B4E2162}"/>
              </a:ext>
            </a:extLst>
          </p:cNvPr>
          <p:cNvSpPr>
            <a:spLocks noGrp="1"/>
          </p:cNvSpPr>
          <p:nvPr>
            <p:ph type="pic" idx="1"/>
          </p:nvPr>
        </p:nvSpPr>
        <p:spPr/>
      </p:sp>
      <p:sp>
        <p:nvSpPr>
          <p:cNvPr id="4" name="Text Placeholder 3">
            <a:extLst>
              <a:ext uri="{FF2B5EF4-FFF2-40B4-BE49-F238E27FC236}">
                <a16:creationId xmlns:a16="http://schemas.microsoft.com/office/drawing/2014/main" id="{52C0F2FB-FC0D-B09E-92B7-846512665356}"/>
              </a:ext>
            </a:extLst>
          </p:cNvPr>
          <p:cNvSpPr>
            <a:spLocks noGrp="1"/>
          </p:cNvSpPr>
          <p:nvPr>
            <p:ph type="body" sz="half" idx="2"/>
          </p:nvPr>
        </p:nvSpPr>
        <p:spPr/>
        <p:txBody>
          <a:bodyPr/>
          <a:lstStyle/>
          <a:p>
            <a:endParaRPr lang="en-US"/>
          </a:p>
        </p:txBody>
      </p:sp>
    </p:spTree>
    <p:extLst>
      <p:ext uri="{BB962C8B-B14F-4D97-AF65-F5344CB8AC3E}">
        <p14:creationId xmlns:p14="http://schemas.microsoft.com/office/powerpoint/2010/main" val="28580772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3BE4105-943E-65F3-BABD-02ECDCCA82C3}"/>
              </a:ext>
            </a:extLst>
          </p:cNvPr>
          <p:cNvSpPr txBox="1"/>
          <p:nvPr/>
        </p:nvSpPr>
        <p:spPr>
          <a:xfrm>
            <a:off x="329184" y="341377"/>
            <a:ext cx="8654796" cy="4647426"/>
          </a:xfrm>
          <a:prstGeom prst="rect">
            <a:avLst/>
          </a:prstGeom>
          <a:noFill/>
        </p:spPr>
        <p:txBody>
          <a:bodyPr wrap="square">
            <a:spAutoFit/>
          </a:bodyPr>
          <a:lstStyle/>
          <a:p>
            <a:endParaRPr lang="en-US" dirty="0"/>
          </a:p>
          <a:p>
            <a:r>
              <a:rPr lang="en-US" dirty="0"/>
              <a:t> </a:t>
            </a:r>
            <a:r>
              <a:rPr lang="en-US" b="1" dirty="0">
                <a:solidFill>
                  <a:srgbClr val="FF0000"/>
                </a:solidFill>
              </a:rPr>
              <a:t>Technology To Be Used</a:t>
            </a:r>
          </a:p>
          <a:p>
            <a:endParaRPr lang="en-US" sz="1400" b="1" dirty="0">
              <a:solidFill>
                <a:srgbClr val="FF0000"/>
              </a:solidFill>
            </a:endParaRPr>
          </a:p>
          <a:p>
            <a:r>
              <a:rPr lang="en-US" sz="1400" dirty="0"/>
              <a:t>Tailwind CSS will be implemented to style the Project Management System’s interface efficiently. It allows for rapid development of responsive and modern UI designs by providing utility-first CSS classes, reducing the need for custom CSS and enabling a consistent design system across the platform.</a:t>
            </a:r>
          </a:p>
          <a:p>
            <a:endParaRPr lang="en-US" sz="1400" dirty="0"/>
          </a:p>
          <a:p>
            <a:r>
              <a:rPr lang="en-US" b="1" dirty="0">
                <a:solidFill>
                  <a:schemeClr val="accent3"/>
                </a:solidFill>
              </a:rPr>
              <a:t>React</a:t>
            </a:r>
          </a:p>
          <a:p>
            <a:r>
              <a:rPr lang="en-US" sz="1400" dirty="0"/>
              <a:t>React will be used to develop the front-end of the platform. It provides a component-based architecture,</a:t>
            </a:r>
          </a:p>
          <a:p>
            <a:r>
              <a:rPr lang="en-US" sz="1400" dirty="0"/>
              <a:t>allowing the creation of reusable UI components. </a:t>
            </a:r>
            <a:r>
              <a:rPr lang="en-US" sz="1400" dirty="0" err="1"/>
              <a:t>React’s</a:t>
            </a:r>
            <a:r>
              <a:rPr lang="en-US" sz="1400" dirty="0"/>
              <a:t> virtual DOM ensures efficient rendering, offering</a:t>
            </a:r>
          </a:p>
          <a:p>
            <a:r>
              <a:rPr lang="en-US" sz="1400" dirty="0"/>
              <a:t>a dynamic and seamless user experience for managing projects and tasks.</a:t>
            </a:r>
          </a:p>
          <a:p>
            <a:endParaRPr lang="en-US" sz="1400" dirty="0"/>
          </a:p>
          <a:p>
            <a:r>
              <a:rPr lang="en-US" b="1" dirty="0">
                <a:solidFill>
                  <a:schemeClr val="accent3"/>
                </a:solidFill>
              </a:rPr>
              <a:t>Spring Boot</a:t>
            </a:r>
          </a:p>
          <a:p>
            <a:r>
              <a:rPr lang="en-US" sz="1400" dirty="0"/>
              <a:t>Spring Boot will power the backend of the system, providing a robust and scalable framework for</a:t>
            </a:r>
          </a:p>
          <a:p>
            <a:r>
              <a:rPr lang="en-US" sz="1400" dirty="0"/>
              <a:t>building RESTful APIs. Its built-in features simplify dependency management, security, and database</a:t>
            </a:r>
          </a:p>
          <a:p>
            <a:r>
              <a:rPr lang="en-US" sz="1400" dirty="0"/>
              <a:t>interaction, enabling efficient development of the server-side logic for managing users, projects, and</a:t>
            </a:r>
          </a:p>
          <a:p>
            <a:r>
              <a:rPr lang="en-US" sz="1400" dirty="0"/>
              <a:t>subscriptions.</a:t>
            </a:r>
          </a:p>
          <a:p>
            <a:endParaRPr lang="en-US" sz="1400" dirty="0"/>
          </a:p>
          <a:p>
            <a:endParaRPr lang="en-US" sz="1400" dirty="0"/>
          </a:p>
        </p:txBody>
      </p:sp>
      <p:sp>
        <p:nvSpPr>
          <p:cNvPr id="5" name="TextBox 4">
            <a:extLst>
              <a:ext uri="{FF2B5EF4-FFF2-40B4-BE49-F238E27FC236}">
                <a16:creationId xmlns:a16="http://schemas.microsoft.com/office/drawing/2014/main" id="{CAC3CE04-0F03-65BB-87F9-02CB99BAB370}"/>
              </a:ext>
            </a:extLst>
          </p:cNvPr>
          <p:cNvSpPr txBox="1"/>
          <p:nvPr/>
        </p:nvSpPr>
        <p:spPr>
          <a:xfrm>
            <a:off x="403860" y="4747260"/>
            <a:ext cx="8744712" cy="1015663"/>
          </a:xfrm>
          <a:prstGeom prst="rect">
            <a:avLst/>
          </a:prstGeom>
          <a:noFill/>
        </p:spPr>
        <p:txBody>
          <a:bodyPr wrap="square">
            <a:spAutoFit/>
          </a:bodyPr>
          <a:lstStyle/>
          <a:p>
            <a:r>
              <a:rPr lang="en-US" b="1" dirty="0">
                <a:solidFill>
                  <a:schemeClr val="accent3"/>
                </a:solidFill>
              </a:rPr>
              <a:t>MySQL</a:t>
            </a:r>
          </a:p>
          <a:p>
            <a:r>
              <a:rPr lang="en-US" sz="1400" dirty="0"/>
              <a:t>MySQL will serve as the database for the Project Management System, managing structured data such as</a:t>
            </a:r>
          </a:p>
          <a:p>
            <a:r>
              <a:rPr lang="en-US" sz="1400" dirty="0"/>
              <a:t>user information, project details, and issue tracking. Its reliability and performance make it suitable for</a:t>
            </a:r>
          </a:p>
          <a:p>
            <a:r>
              <a:rPr lang="en-US" sz="1400" dirty="0"/>
              <a:t>handling complex queries and ensuring data integrity in large-scale applications</a:t>
            </a:r>
          </a:p>
        </p:txBody>
      </p:sp>
    </p:spTree>
    <p:extLst>
      <p:ext uri="{BB962C8B-B14F-4D97-AF65-F5344CB8AC3E}">
        <p14:creationId xmlns:p14="http://schemas.microsoft.com/office/powerpoint/2010/main" val="7513323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08B9C9C-0879-4123-57C8-6FAAEAC63CC6}"/>
              </a:ext>
            </a:extLst>
          </p:cNvPr>
          <p:cNvSpPr txBox="1"/>
          <p:nvPr/>
        </p:nvSpPr>
        <p:spPr>
          <a:xfrm>
            <a:off x="381000" y="2247900"/>
            <a:ext cx="8768715" cy="2646878"/>
          </a:xfrm>
          <a:prstGeom prst="rect">
            <a:avLst/>
          </a:prstGeom>
          <a:noFill/>
        </p:spPr>
        <p:txBody>
          <a:bodyPr wrap="square">
            <a:spAutoFit/>
          </a:bodyPr>
          <a:lstStyle/>
          <a:p>
            <a:r>
              <a:rPr lang="en-US" b="1" dirty="0">
                <a:solidFill>
                  <a:schemeClr val="accent3"/>
                </a:solidFill>
              </a:rPr>
              <a:t>JWT Authentication</a:t>
            </a:r>
          </a:p>
          <a:p>
            <a:endParaRPr lang="en-US" sz="1400" b="1" dirty="0">
              <a:solidFill>
                <a:schemeClr val="accent3"/>
              </a:solidFill>
            </a:endParaRPr>
          </a:p>
          <a:p>
            <a:r>
              <a:rPr lang="en-US" sz="1400" dirty="0"/>
              <a:t>JWT (JSON Web Token) Authentication will be implemented to secure the system. It ensures that only authenticated users can access specific resources by using tokens for stateless user sessions. This enhances security while simplifying session management.</a:t>
            </a:r>
          </a:p>
          <a:p>
            <a:endParaRPr lang="en-US" sz="1400" dirty="0"/>
          </a:p>
          <a:p>
            <a:r>
              <a:rPr lang="en-US" b="1" dirty="0">
                <a:solidFill>
                  <a:schemeClr val="accent3"/>
                </a:solidFill>
              </a:rPr>
              <a:t>Khalti Integration</a:t>
            </a:r>
          </a:p>
          <a:p>
            <a:endParaRPr lang="en-US" b="1" dirty="0">
              <a:solidFill>
                <a:schemeClr val="accent3"/>
              </a:solidFill>
            </a:endParaRPr>
          </a:p>
          <a:p>
            <a:r>
              <a:rPr lang="en-US" sz="1400" dirty="0"/>
              <a:t>Khalti will be integrated as the payment gateway to handle online payments for subscription plans. This feature enables users to securely purchase subscriptions, providing a seamless payment experience tailored to the Nepalese market, while managing invoices and transaction history efficiently.</a:t>
            </a:r>
          </a:p>
        </p:txBody>
      </p:sp>
    </p:spTree>
    <p:extLst>
      <p:ext uri="{BB962C8B-B14F-4D97-AF65-F5344CB8AC3E}">
        <p14:creationId xmlns:p14="http://schemas.microsoft.com/office/powerpoint/2010/main" val="949516541"/>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Facet</Template>
  <TotalTime>83</TotalTime>
  <Words>1255</Words>
  <Application>Microsoft Office PowerPoint</Application>
  <PresentationFormat>Widescreen</PresentationFormat>
  <Paragraphs>102</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Trebuchet MS</vt:lpstr>
      <vt:lpstr>Wingdings 3</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Ram isar</dc:creator>
  <cp:lastModifiedBy>Ram isar</cp:lastModifiedBy>
  <cp:revision>2</cp:revision>
  <dcterms:created xsi:type="dcterms:W3CDTF">2024-11-28T16:49:40Z</dcterms:created>
  <dcterms:modified xsi:type="dcterms:W3CDTF">2024-11-28T18:12:45Z</dcterms:modified>
</cp:coreProperties>
</file>