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1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93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87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0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5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59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3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45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9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62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27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013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39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46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2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132" y="94268"/>
            <a:ext cx="8241210" cy="266925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NeoHouse: Home Automation with Smart Parking &amp; Energy Prediction System</a:t>
            </a:r>
            <a:br>
              <a:rPr lang="en-US" sz="3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endParaRPr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045" y="2550159"/>
            <a:ext cx="6904922" cy="3801479"/>
          </a:xfrm>
        </p:spPr>
        <p:txBody>
          <a:bodyPr>
            <a:noAutofit/>
          </a:bodyPr>
          <a:lstStyle/>
          <a:p>
            <a:endParaRPr lang="en-US" b="1" dirty="0"/>
          </a:p>
          <a:p>
            <a:pPr algn="ctr"/>
            <a:endParaRPr b="1" dirty="0"/>
          </a:p>
          <a:p>
            <a:pPr algn="ctr"/>
            <a:r>
              <a:rPr b="1" dirty="0"/>
              <a:t> </a:t>
            </a:r>
            <a:r>
              <a:rPr sz="2000" b="1" dirty="0"/>
              <a:t>Ram Kumar Isar</a:t>
            </a:r>
            <a:endParaRPr lang="en-US" sz="2000" b="1" dirty="0"/>
          </a:p>
          <a:p>
            <a:pPr algn="ctr"/>
            <a:r>
              <a:rPr sz="2000" b="1" dirty="0"/>
              <a:t> Krishna Bishwakarma</a:t>
            </a:r>
            <a:endParaRPr lang="en-US" sz="2000" b="1" dirty="0"/>
          </a:p>
          <a:p>
            <a:pPr algn="ctr"/>
            <a:r>
              <a:rPr sz="2000" b="1" dirty="0"/>
              <a:t> Gajendra Thakur</a:t>
            </a:r>
            <a:endParaRPr lang="en-US" sz="2000" b="1" dirty="0"/>
          </a:p>
          <a:p>
            <a:pPr algn="ctr"/>
            <a:r>
              <a:rPr lang="en-US" sz="2000" b="1" dirty="0"/>
              <a:t> </a:t>
            </a:r>
            <a:r>
              <a:rPr sz="2000" b="1" dirty="0"/>
              <a:t>Aavash Joshi</a:t>
            </a:r>
            <a:endParaRPr lang="en-US" sz="2000" b="1" dirty="0"/>
          </a:p>
          <a:p>
            <a:pPr algn="ctr"/>
            <a:r>
              <a:rPr sz="2000" b="1" dirty="0"/>
              <a:t>Prabin Kumar Sah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DAF284-2163-42B7-1CA5-8E00D2CDFBEE}"/>
              </a:ext>
            </a:extLst>
          </p:cNvPr>
          <p:cNvSpPr/>
          <p:nvPr/>
        </p:nvSpPr>
        <p:spPr>
          <a:xfrm>
            <a:off x="862490" y="2356544"/>
            <a:ext cx="797985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sz="3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Department of IT, NCI</a:t>
            </a:r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endParaRPr lang="en-US" sz="32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63186D-09F1-5F7D-4C4B-AD1B3C94A27D}"/>
              </a:ext>
            </a:extLst>
          </p:cNvPr>
          <p:cNvSpPr/>
          <p:nvPr/>
        </p:nvSpPr>
        <p:spPr>
          <a:xfrm>
            <a:off x="3247560" y="2837625"/>
            <a:ext cx="29738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cap="none" spc="0" dirty="0">
                <a:ln/>
                <a:solidFill>
                  <a:schemeClr val="accent3"/>
                </a:solidFill>
                <a:effectLst/>
              </a:rPr>
              <a:t>Team Members: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B13D96-5FD2-D9AA-32A9-A4C7747A3DE7}"/>
              </a:ext>
            </a:extLst>
          </p:cNvPr>
          <p:cNvSpPr/>
          <p:nvPr/>
        </p:nvSpPr>
        <p:spPr>
          <a:xfrm>
            <a:off x="2313900" y="5471070"/>
            <a:ext cx="5077031" cy="129266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/>
              <a:t>Supervisor: Er. Roshan Kumar Sah</a:t>
            </a:r>
          </a:p>
          <a:p>
            <a:pPr algn="ctr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Internet of Things (IoT) connects devices to the internet</a:t>
            </a:r>
          </a:p>
          <a:p>
            <a:r>
              <a:rPr sz="2000" dirty="0"/>
              <a:t>Provides automation, monitoring and remote control</a:t>
            </a:r>
          </a:p>
          <a:p>
            <a:r>
              <a:rPr sz="2000" dirty="0"/>
              <a:t>Improves comfort, security and energy efficiency</a:t>
            </a:r>
          </a:p>
          <a:p>
            <a:r>
              <a:rPr sz="2000" dirty="0"/>
              <a:t>NeoHouse integrates smart home + smart parking + energy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No centralized home control</a:t>
            </a:r>
          </a:p>
          <a:p>
            <a:r>
              <a:rPr sz="2000" dirty="0"/>
              <a:t>Energy wastage due to manual operation</a:t>
            </a:r>
          </a:p>
          <a:p>
            <a:r>
              <a:rPr sz="2000" dirty="0"/>
              <a:t>Security risks and no monitoring</a:t>
            </a:r>
          </a:p>
          <a:p>
            <a:r>
              <a:rPr sz="2000" dirty="0"/>
              <a:t>No real-time parking </a:t>
            </a:r>
            <a:r>
              <a:rPr lang="en-US" sz="2000" dirty="0"/>
              <a:t>detection</a:t>
            </a:r>
            <a:r>
              <a:rPr sz="2000" dirty="0"/>
              <a:t>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Remote control of lights and fan</a:t>
            </a:r>
          </a:p>
          <a:p>
            <a:r>
              <a:rPr sz="2000" dirty="0"/>
              <a:t>Environmental monitoring (temperature, smoke, motion)</a:t>
            </a:r>
          </a:p>
          <a:p>
            <a:r>
              <a:rPr lang="en-US" sz="2000" dirty="0"/>
              <a:t>Develop </a:t>
            </a:r>
            <a:r>
              <a:rPr sz="2000" dirty="0"/>
              <a:t>Smart parking </a:t>
            </a:r>
            <a:r>
              <a:rPr lang="en-US" sz="2000" dirty="0"/>
              <a:t>with Intrusion detection</a:t>
            </a:r>
            <a:endParaRPr sz="2000" dirty="0"/>
          </a:p>
          <a:p>
            <a:r>
              <a:rPr sz="2000" dirty="0"/>
              <a:t>Energy consumption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Significance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Enhances home security</a:t>
            </a:r>
          </a:p>
          <a:p>
            <a:r>
              <a:rPr sz="2000" dirty="0"/>
              <a:t>Reduces electricity consumption</a:t>
            </a:r>
          </a:p>
          <a:p>
            <a:r>
              <a:rPr sz="2000" dirty="0"/>
              <a:t>Improves user convenience</a:t>
            </a:r>
          </a:p>
          <a:p>
            <a:r>
              <a:rPr sz="2000" dirty="0"/>
              <a:t>Optimizes parking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Sensing Layer – ESP32 &amp; Sensors</a:t>
            </a:r>
          </a:p>
          <a:p>
            <a:r>
              <a:rPr sz="2000" dirty="0"/>
              <a:t>Communication Layer – </a:t>
            </a:r>
            <a:r>
              <a:rPr sz="2000" dirty="0" err="1"/>
              <a:t>WiFi</a:t>
            </a:r>
            <a:r>
              <a:rPr sz="2000" dirty="0"/>
              <a:t> / Blynk</a:t>
            </a:r>
          </a:p>
          <a:p>
            <a:r>
              <a:rPr sz="2000" dirty="0"/>
              <a:t>Backend Layer – Node.js API</a:t>
            </a:r>
          </a:p>
          <a:p>
            <a:r>
              <a:rPr sz="2000" dirty="0"/>
              <a:t>Database Layer – MongoDB</a:t>
            </a:r>
          </a:p>
          <a:p>
            <a:r>
              <a:rPr sz="2000" dirty="0"/>
              <a:t>AI Layer – Machine Learning</a:t>
            </a:r>
          </a:p>
          <a:p>
            <a:r>
              <a:rPr sz="2000" dirty="0"/>
              <a:t>Application Layer – Flutter Mobile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>
            <a:normAutofit/>
          </a:bodyPr>
          <a:lstStyle/>
          <a:p>
            <a:r>
              <a:rPr b="1" dirty="0"/>
              <a:t>Methodology (SDLC - Incremental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Requirement Analysis</a:t>
            </a:r>
          </a:p>
          <a:p>
            <a:r>
              <a:rPr sz="2000" dirty="0"/>
              <a:t>System Design</a:t>
            </a:r>
          </a:p>
          <a:p>
            <a:r>
              <a:rPr sz="2000" dirty="0"/>
              <a:t>Coding &amp; Implementation</a:t>
            </a:r>
          </a:p>
          <a:p>
            <a:r>
              <a:rPr sz="2000" dirty="0"/>
              <a:t>Testing</a:t>
            </a:r>
          </a:p>
          <a:p>
            <a:r>
              <a:rPr sz="2000" dirty="0"/>
              <a:t>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D30DE7-FE64-63B5-5139-227821385FC0}"/>
              </a:ext>
            </a:extLst>
          </p:cNvPr>
          <p:cNvSpPr txBox="1"/>
          <p:nvPr/>
        </p:nvSpPr>
        <p:spPr>
          <a:xfrm>
            <a:off x="953050" y="1461482"/>
            <a:ext cx="797507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Increment 1 →</a:t>
            </a:r>
            <a:r>
              <a:rPr lang="en-US" sz="2000" dirty="0"/>
              <a:t>Home Automation</a:t>
            </a:r>
            <a:br>
              <a:rPr lang="en-US" sz="3200" dirty="0"/>
            </a:br>
            <a:r>
              <a:rPr lang="en-US" sz="2000" dirty="0"/>
              <a:t>(</a:t>
            </a:r>
            <a:r>
              <a:rPr lang="en-US" sz="2000" dirty="0" err="1"/>
              <a:t>light,Fan</a:t>
            </a:r>
            <a:r>
              <a:rPr lang="en-US" sz="2000" dirty="0"/>
              <a:t>, </a:t>
            </a:r>
            <a:r>
              <a:rPr lang="en-US" sz="2000" dirty="0" err="1"/>
              <a:t>RGB,smoke</a:t>
            </a:r>
            <a:r>
              <a:rPr lang="en-US" sz="2000" dirty="0"/>
              <a:t> </a:t>
            </a:r>
            <a:r>
              <a:rPr lang="en-US" sz="2000" dirty="0" err="1"/>
              <a:t>detection,temperature</a:t>
            </a:r>
            <a:r>
              <a:rPr lang="en-US" sz="2000" dirty="0"/>
              <a:t> &amp; Humidity)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Increment 2 → </a:t>
            </a:r>
            <a:r>
              <a:rPr lang="en-US" sz="2000" dirty="0"/>
              <a:t>Smart Parking &amp; Security</a:t>
            </a:r>
            <a:br>
              <a:rPr lang="en-US" sz="3200" dirty="0"/>
            </a:br>
            <a:r>
              <a:rPr lang="en-US" sz="2000" dirty="0"/>
              <a:t>(Gate + RFID Reader and it’s card)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Increment 3 → </a:t>
            </a:r>
            <a:r>
              <a:rPr lang="en-US" sz="2000" dirty="0"/>
              <a:t>ML &amp; Mobile Application</a:t>
            </a:r>
            <a:br>
              <a:rPr lang="en-US" sz="3200" dirty="0"/>
            </a:br>
            <a:r>
              <a:rPr lang="en-US" sz="2000" dirty="0"/>
              <a:t>(ML + App + Prediction)</a:t>
            </a:r>
          </a:p>
        </p:txBody>
      </p:sp>
    </p:spTree>
    <p:extLst>
      <p:ext uri="{BB962C8B-B14F-4D97-AF65-F5344CB8AC3E}">
        <p14:creationId xmlns:p14="http://schemas.microsoft.com/office/powerpoint/2010/main" val="328743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635760"/>
            <a:ext cx="6591985" cy="4275462"/>
          </a:xfrm>
        </p:spPr>
        <p:txBody>
          <a:bodyPr>
            <a:normAutofit/>
          </a:bodyPr>
          <a:lstStyle/>
          <a:p>
            <a:r>
              <a:rPr sz="2000" dirty="0"/>
              <a:t>ESP32 Controller</a:t>
            </a:r>
            <a:r>
              <a:rPr lang="en-US" sz="2000" dirty="0"/>
              <a:t>-</a:t>
            </a:r>
            <a:r>
              <a:rPr lang="en-US" sz="2000" b="1" dirty="0"/>
              <a:t> </a:t>
            </a:r>
            <a:r>
              <a:rPr lang="en-US" sz="2000" dirty="0"/>
              <a:t>Main Controller</a:t>
            </a:r>
            <a:endParaRPr sz="2000" dirty="0"/>
          </a:p>
          <a:p>
            <a:r>
              <a:rPr sz="2000" dirty="0"/>
              <a:t>DHT11</a:t>
            </a:r>
            <a:r>
              <a:rPr lang="en-US" sz="2000" dirty="0"/>
              <a:t> Sensor -</a:t>
            </a:r>
            <a:r>
              <a:rPr lang="en-US" sz="2000" b="1" dirty="0"/>
              <a:t> </a:t>
            </a:r>
            <a:r>
              <a:rPr lang="en-US" sz="2000" dirty="0"/>
              <a:t>Temperature &amp; Humidity </a:t>
            </a:r>
          </a:p>
          <a:p>
            <a:r>
              <a:rPr sz="2000" dirty="0"/>
              <a:t>RFID Module</a:t>
            </a:r>
            <a:r>
              <a:rPr lang="en-US" sz="2000" b="1" dirty="0"/>
              <a:t> -</a:t>
            </a:r>
            <a:r>
              <a:rPr lang="en-US" sz="2000" dirty="0"/>
              <a:t>Intrusion Detection</a:t>
            </a:r>
            <a:endParaRPr sz="2000" dirty="0"/>
          </a:p>
          <a:p>
            <a:r>
              <a:rPr sz="2000" dirty="0"/>
              <a:t>Servo Motor</a:t>
            </a:r>
            <a:r>
              <a:rPr lang="en-US" sz="2000" dirty="0"/>
              <a:t>-</a:t>
            </a:r>
            <a:r>
              <a:rPr lang="en-US" sz="2000" b="1" dirty="0"/>
              <a:t> </a:t>
            </a:r>
            <a:r>
              <a:rPr lang="en-US" sz="2000" dirty="0"/>
              <a:t>Gate Open and Close</a:t>
            </a:r>
          </a:p>
          <a:p>
            <a:r>
              <a:rPr sz="2000" dirty="0"/>
              <a:t>Buzzer</a:t>
            </a:r>
            <a:r>
              <a:rPr lang="en-US" sz="2000" dirty="0"/>
              <a:t>- Alert Notification</a:t>
            </a:r>
          </a:p>
          <a:p>
            <a:r>
              <a:rPr sz="2000" dirty="0"/>
              <a:t>OLED Display</a:t>
            </a:r>
            <a:r>
              <a:rPr lang="en-US" sz="2000" dirty="0"/>
              <a:t>-</a:t>
            </a:r>
            <a:r>
              <a:rPr lang="en-US" sz="2000" b="1" dirty="0"/>
              <a:t> </a:t>
            </a:r>
            <a:r>
              <a:rPr lang="en-US" sz="2000" dirty="0"/>
              <a:t>System Display</a:t>
            </a:r>
          </a:p>
          <a:p>
            <a:r>
              <a:rPr lang="en-US" sz="2000" dirty="0"/>
              <a:t>IR Sensors-Cars Detection</a:t>
            </a:r>
          </a:p>
          <a:p>
            <a:r>
              <a:rPr lang="en-US" sz="2000" dirty="0"/>
              <a:t>MQ2 Sensor-Smoke Detection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Software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696720"/>
            <a:ext cx="6591985" cy="4214502"/>
          </a:xfrm>
        </p:spPr>
        <p:txBody>
          <a:bodyPr>
            <a:normAutofit/>
          </a:bodyPr>
          <a:lstStyle/>
          <a:p>
            <a:r>
              <a:rPr sz="2000" dirty="0"/>
              <a:t>Arduino IDE – Programming ESP32</a:t>
            </a:r>
          </a:p>
          <a:p>
            <a:r>
              <a:rPr sz="2000" dirty="0"/>
              <a:t>Flutter – Mobile Application</a:t>
            </a:r>
          </a:p>
          <a:p>
            <a:r>
              <a:rPr sz="2000" dirty="0"/>
              <a:t>Node.js – Backend</a:t>
            </a:r>
          </a:p>
          <a:p>
            <a:r>
              <a:rPr sz="2000" dirty="0"/>
              <a:t>MongoDB – Database</a:t>
            </a:r>
          </a:p>
          <a:p>
            <a:r>
              <a:rPr sz="2000" dirty="0"/>
              <a:t>Blynk &amp; Firebase – Communication &amp; Authentication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Machine Learning – Energy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052320"/>
            <a:ext cx="7201585" cy="5252720"/>
          </a:xfrm>
        </p:spPr>
        <p:txBody>
          <a:bodyPr>
            <a:noAutofit/>
          </a:bodyPr>
          <a:lstStyle/>
          <a:p>
            <a:r>
              <a:rPr b="1" dirty="0"/>
              <a:t>Linear Regression algorithm</a:t>
            </a:r>
            <a:endParaRPr lang="en-US" b="1" dirty="0"/>
          </a:p>
          <a:p>
            <a:r>
              <a:rPr lang="en-US" dirty="0">
                <a:solidFill>
                  <a:schemeClr val="tx1"/>
                </a:solidFill>
              </a:rPr>
              <a:t>The basic Linear Regression equation is: </a:t>
            </a:r>
          </a:p>
          <a:p>
            <a:r>
              <a:rPr lang="en-US" i="1" dirty="0">
                <a:solidFill>
                  <a:schemeClr val="tx1"/>
                </a:solidFill>
              </a:rPr>
              <a:t>y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l-GR" i="1" dirty="0">
                <a:solidFill>
                  <a:schemeClr val="tx1"/>
                </a:solidFill>
              </a:rPr>
              <a:t>β</a:t>
            </a:r>
            <a:r>
              <a:rPr lang="el-GR" dirty="0">
                <a:solidFill>
                  <a:schemeClr val="tx1"/>
                </a:solidFill>
              </a:rPr>
              <a:t>0 + </a:t>
            </a:r>
            <a:r>
              <a:rPr lang="el-GR" i="1" dirty="0">
                <a:solidFill>
                  <a:schemeClr val="tx1"/>
                </a:solidFill>
              </a:rPr>
              <a:t>β</a:t>
            </a:r>
            <a:r>
              <a:rPr lang="el-GR" dirty="0">
                <a:solidFill>
                  <a:schemeClr val="tx1"/>
                </a:solidFill>
              </a:rPr>
              <a:t>1</a:t>
            </a:r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1 + </a:t>
            </a:r>
            <a:r>
              <a:rPr lang="el-GR" i="1" dirty="0">
                <a:solidFill>
                  <a:schemeClr val="tx1"/>
                </a:solidFill>
              </a:rPr>
              <a:t>β</a:t>
            </a:r>
            <a:r>
              <a:rPr lang="el-GR" dirty="0">
                <a:solidFill>
                  <a:schemeClr val="tx1"/>
                </a:solidFill>
              </a:rPr>
              <a:t>2</a:t>
            </a:r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2 + </a:t>
            </a:r>
            <a:r>
              <a:rPr lang="el-GR" i="1" dirty="0">
                <a:solidFill>
                  <a:schemeClr val="tx1"/>
                </a:solidFill>
              </a:rPr>
              <a:t>β</a:t>
            </a:r>
            <a:r>
              <a:rPr lang="el-GR" dirty="0">
                <a:solidFill>
                  <a:schemeClr val="tx1"/>
                </a:solidFill>
              </a:rPr>
              <a:t>3</a:t>
            </a:r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3 + </a:t>
            </a:r>
            <a:r>
              <a:rPr lang="en-US" i="1" dirty="0">
                <a:solidFill>
                  <a:schemeClr val="tx1"/>
                </a:solidFill>
              </a:rPr>
              <a:t>· · · </a:t>
            </a:r>
            <a:r>
              <a:rPr lang="en-US" dirty="0">
                <a:solidFill>
                  <a:schemeClr val="tx1"/>
                </a:solidFill>
              </a:rPr>
              <a:t>+ </a:t>
            </a:r>
            <a:r>
              <a:rPr lang="el-GR" i="1" dirty="0">
                <a:solidFill>
                  <a:schemeClr val="tx1"/>
                </a:solidFill>
              </a:rPr>
              <a:t>β</a:t>
            </a:r>
            <a:r>
              <a:rPr lang="en-US" i="1" dirty="0" err="1">
                <a:solidFill>
                  <a:schemeClr val="tx1"/>
                </a:solidFill>
              </a:rPr>
              <a:t>nxn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+ </a:t>
            </a:r>
            <a:r>
              <a:rPr lang="el-GR" i="1" dirty="0">
                <a:solidFill>
                  <a:schemeClr val="tx1"/>
                </a:solidFill>
              </a:rPr>
              <a:t>ε </a:t>
            </a:r>
            <a:endParaRPr lang="el-GR" dirty="0">
              <a:solidFill>
                <a:schemeClr val="tx1"/>
              </a:solidFill>
            </a:endParaRPr>
          </a:p>
          <a:p>
            <a:r>
              <a:rPr lang="en-US" b="1" dirty="0"/>
              <a:t>Where: </a:t>
            </a:r>
          </a:p>
          <a:p>
            <a:r>
              <a:rPr lang="en-US" dirty="0"/>
              <a:t>• </a:t>
            </a:r>
            <a:r>
              <a:rPr lang="en-US" i="1" dirty="0"/>
              <a:t>y </a:t>
            </a:r>
            <a:r>
              <a:rPr lang="en-US" dirty="0"/>
              <a:t>= Predicted energy consumption </a:t>
            </a:r>
          </a:p>
          <a:p>
            <a:r>
              <a:rPr lang="en-US" dirty="0"/>
              <a:t>• </a:t>
            </a:r>
            <a:r>
              <a:rPr lang="el-GR" i="1" dirty="0"/>
              <a:t>β</a:t>
            </a:r>
            <a:r>
              <a:rPr lang="el-GR" dirty="0"/>
              <a:t>0 = </a:t>
            </a:r>
            <a:r>
              <a:rPr lang="en-US" dirty="0"/>
              <a:t>Intercept (constant value) </a:t>
            </a:r>
          </a:p>
          <a:p>
            <a:r>
              <a:rPr lang="en-US" dirty="0"/>
              <a:t>• </a:t>
            </a:r>
            <a:r>
              <a:rPr lang="el-GR" i="1" dirty="0"/>
              <a:t>β</a:t>
            </a:r>
            <a:r>
              <a:rPr lang="el-GR" dirty="0"/>
              <a:t>1</a:t>
            </a:r>
            <a:r>
              <a:rPr lang="el-GR" i="1" dirty="0"/>
              <a:t>, β</a:t>
            </a:r>
            <a:r>
              <a:rPr lang="el-GR" dirty="0"/>
              <a:t>2</a:t>
            </a:r>
            <a:r>
              <a:rPr lang="el-GR" i="1" dirty="0"/>
              <a:t>, β</a:t>
            </a:r>
            <a:r>
              <a:rPr lang="el-GR" dirty="0"/>
              <a:t>3</a:t>
            </a:r>
            <a:r>
              <a:rPr lang="el-GR" i="1" dirty="0"/>
              <a:t>, . . . , β</a:t>
            </a:r>
            <a:r>
              <a:rPr lang="en-US" i="1" dirty="0"/>
              <a:t>n </a:t>
            </a:r>
            <a:r>
              <a:rPr lang="en-US" dirty="0"/>
              <a:t>= Model coefficients (weights) </a:t>
            </a:r>
          </a:p>
          <a:p>
            <a:r>
              <a:rPr lang="en-US" dirty="0"/>
              <a:t>• </a:t>
            </a:r>
            <a:r>
              <a:rPr lang="en-US" i="1" dirty="0"/>
              <a:t>x</a:t>
            </a:r>
            <a:r>
              <a:rPr lang="en-US" dirty="0"/>
              <a:t>1</a:t>
            </a:r>
            <a:r>
              <a:rPr lang="en-US" i="1" dirty="0"/>
              <a:t>, x</a:t>
            </a:r>
            <a:r>
              <a:rPr lang="en-US" dirty="0"/>
              <a:t>2</a:t>
            </a:r>
            <a:r>
              <a:rPr lang="en-US" i="1" dirty="0"/>
              <a:t>, x</a:t>
            </a:r>
            <a:r>
              <a:rPr lang="en-US" dirty="0"/>
              <a:t>3</a:t>
            </a:r>
            <a:r>
              <a:rPr lang="en-US" i="1" dirty="0"/>
              <a:t>, . . . , </a:t>
            </a:r>
            <a:r>
              <a:rPr lang="en-US" i="1" dirty="0" err="1"/>
              <a:t>xn</a:t>
            </a:r>
            <a:r>
              <a:rPr lang="en-US" i="1" dirty="0"/>
              <a:t> </a:t>
            </a:r>
            <a:r>
              <a:rPr lang="en-US" dirty="0"/>
              <a:t>= Input features (temperature, humidity, device usage, time, etc.) </a:t>
            </a:r>
          </a:p>
          <a:p>
            <a:r>
              <a:rPr lang="en-US" dirty="0"/>
              <a:t>• </a:t>
            </a:r>
            <a:r>
              <a:rPr lang="el-GR" i="1" dirty="0"/>
              <a:t>ε </a:t>
            </a:r>
            <a:r>
              <a:rPr lang="el-GR" dirty="0"/>
              <a:t>= </a:t>
            </a:r>
            <a:r>
              <a:rPr lang="en-US" dirty="0"/>
              <a:t>Error (difference between actual and predicted value)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Response time testing</a:t>
            </a:r>
          </a:p>
          <a:p>
            <a:r>
              <a:rPr sz="2000" dirty="0"/>
              <a:t>Sensor accuracy checking</a:t>
            </a:r>
          </a:p>
          <a:p>
            <a:r>
              <a:rPr sz="2000" dirty="0"/>
              <a:t>Parking detection reliability</a:t>
            </a:r>
          </a:p>
          <a:p>
            <a:r>
              <a:rPr sz="2000" dirty="0"/>
              <a:t>System stability 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Results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686560"/>
            <a:ext cx="6591985" cy="4224662"/>
          </a:xfrm>
        </p:spPr>
        <p:txBody>
          <a:bodyPr>
            <a:normAutofit/>
          </a:bodyPr>
          <a:lstStyle/>
          <a:p>
            <a:r>
              <a:rPr sz="2000" dirty="0"/>
              <a:t>Successful remote device control</a:t>
            </a:r>
          </a:p>
          <a:p>
            <a:r>
              <a:rPr sz="2000" dirty="0"/>
              <a:t>Real-time monitoring achieved</a:t>
            </a:r>
          </a:p>
          <a:p>
            <a:r>
              <a:rPr sz="2000" dirty="0"/>
              <a:t>Security alerts triggered</a:t>
            </a:r>
          </a:p>
          <a:p>
            <a:r>
              <a:rPr sz="2000" dirty="0"/>
              <a:t>Energy usage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24110"/>
            <a:ext cx="6589199" cy="1280890"/>
          </a:xfrm>
        </p:spPr>
        <p:txBody>
          <a:bodyPr/>
          <a:lstStyle/>
          <a:p>
            <a:r>
              <a:rPr lang="en-US" b="1" dirty="0"/>
              <a:t>Future Scope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656080"/>
            <a:ext cx="6591985" cy="4255142"/>
          </a:xfrm>
        </p:spPr>
        <p:txBody>
          <a:bodyPr>
            <a:normAutofit/>
          </a:bodyPr>
          <a:lstStyle/>
          <a:p>
            <a:r>
              <a:rPr lang="en-US" sz="2000" dirty="0"/>
              <a:t>Face recognition security</a:t>
            </a:r>
          </a:p>
          <a:p>
            <a:r>
              <a:rPr lang="en-US" sz="2000" dirty="0"/>
              <a:t>Smart billing parking system</a:t>
            </a:r>
          </a:p>
          <a:p>
            <a:r>
              <a:rPr lang="en-US" sz="2000" dirty="0"/>
              <a:t>Voice Assistance integration</a:t>
            </a:r>
          </a:p>
          <a:p>
            <a:endParaRPr lang="en-US" sz="2000" dirty="0"/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7295" y="1554480"/>
            <a:ext cx="6591985" cy="4356742"/>
          </a:xfrm>
        </p:spPr>
        <p:txBody>
          <a:bodyPr>
            <a:normAutofit/>
          </a:bodyPr>
          <a:lstStyle/>
          <a:p>
            <a:r>
              <a:rPr lang="en-US" sz="2000" dirty="0"/>
              <a:t>Integrated home automation and smart parking</a:t>
            </a:r>
          </a:p>
          <a:p>
            <a:r>
              <a:rPr lang="en-US" sz="2000" dirty="0"/>
              <a:t>Improved safety and efficiency</a:t>
            </a:r>
          </a:p>
          <a:p>
            <a:r>
              <a:rPr lang="en-US" sz="2000" dirty="0"/>
              <a:t>Energy saving support</a:t>
            </a:r>
          </a:p>
          <a:p>
            <a:r>
              <a:rPr lang="en-US" sz="2000" dirty="0"/>
              <a:t>Scalable smart home solution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821A5C-4423-1349-AABA-56418CBE3F9C}"/>
              </a:ext>
            </a:extLst>
          </p:cNvPr>
          <p:cNvSpPr txBox="1"/>
          <p:nvPr/>
        </p:nvSpPr>
        <p:spPr>
          <a:xfrm>
            <a:off x="2387600" y="323925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97231396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123</TotalTime>
  <Words>487</Words>
  <Application>Microsoft Office PowerPoint</Application>
  <PresentationFormat>On-screen Show (4:3)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Wingdings</vt:lpstr>
      <vt:lpstr>Wingdings 3</vt:lpstr>
      <vt:lpstr>Wisp</vt:lpstr>
      <vt:lpstr>NeoHouse: Home Automation with Smart Parking &amp; Energy Prediction System </vt:lpstr>
      <vt:lpstr>Introduction</vt:lpstr>
      <vt:lpstr>Problem Statement</vt:lpstr>
      <vt:lpstr>Project Objectives</vt:lpstr>
      <vt:lpstr>Significance of the Study</vt:lpstr>
      <vt:lpstr>System Architecture</vt:lpstr>
      <vt:lpstr>Methodology (SDLC - Incremental Model)</vt:lpstr>
      <vt:lpstr>PowerPoint Presentation</vt:lpstr>
      <vt:lpstr>Hardware Components</vt:lpstr>
      <vt:lpstr>Software Technologies</vt:lpstr>
      <vt:lpstr>Machine Learning – Energy Prediction</vt:lpstr>
      <vt:lpstr>Performance Evaluation</vt:lpstr>
      <vt:lpstr>Results &amp; Implementation</vt:lpstr>
      <vt:lpstr>Future Scope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Ram isar</cp:lastModifiedBy>
  <cp:revision>2</cp:revision>
  <dcterms:created xsi:type="dcterms:W3CDTF">2013-01-27T09:14:16Z</dcterms:created>
  <dcterms:modified xsi:type="dcterms:W3CDTF">2026-02-13T16:23:31Z</dcterms:modified>
  <cp:category/>
</cp:coreProperties>
</file>